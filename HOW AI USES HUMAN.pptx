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020" y="-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89BA1117-B8A0-4633-8E9D-A29AA2FB3C58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D7F93BDA-A331-4B90-B18F-E580B969C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3240" y="1500174"/>
            <a:ext cx="5105400" cy="2868168"/>
          </a:xfrm>
        </p:spPr>
        <p:txBody>
          <a:bodyPr/>
          <a:lstStyle/>
          <a:p>
            <a:r>
              <a:rPr lang="en-IN" dirty="0" err="1" smtClean="0"/>
              <a:t>Sanajaya</a:t>
            </a:r>
            <a:r>
              <a:rPr lang="en-IN" dirty="0" smtClean="0"/>
              <a:t> p</a:t>
            </a:r>
            <a:br>
              <a:rPr lang="en-IN" dirty="0" smtClean="0"/>
            </a:br>
            <a:r>
              <a:rPr lang="en-IN" dirty="0" err="1" smtClean="0"/>
              <a:t>csd</a:t>
            </a:r>
            <a:r>
              <a:rPr lang="en-IN" dirty="0" smtClean="0"/>
              <a:t>-b</a:t>
            </a:r>
            <a:br>
              <a:rPr lang="en-IN" dirty="0" smtClean="0"/>
            </a:br>
            <a:r>
              <a:rPr lang="en-IN" dirty="0" err="1" smtClean="0"/>
              <a:t>title:how</a:t>
            </a:r>
            <a:r>
              <a:rPr lang="en-IN" dirty="0" smtClean="0"/>
              <a:t> </a:t>
            </a:r>
            <a:r>
              <a:rPr lang="en-IN" dirty="0" err="1" smtClean="0"/>
              <a:t>ai</a:t>
            </a:r>
            <a:r>
              <a:rPr lang="en-IN" dirty="0" smtClean="0"/>
              <a:t> uses human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4" descr="Robot with solid fill">
            <a:extLst>
              <a:ext uri="{FF2B5EF4-FFF2-40B4-BE49-F238E27FC236}">
                <a16:creationId xmlns:a16="http://schemas.microsoft.com/office/drawing/2014/main" xmlns="" id="{284F8C92-1767-C8F8-A04F-17BBED845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785918" y="642918"/>
            <a:ext cx="3857652" cy="30003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10800000" flipV="1">
            <a:off x="714348" y="3955115"/>
            <a:ext cx="707236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cap="none" spc="0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How does AI use Humans</a:t>
            </a:r>
            <a:endParaRPr lang="en-IN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2976" y="10001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0034" y="428605"/>
            <a:ext cx="63579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 smtClean="0">
                <a:solidFill>
                  <a:schemeClr val="accent1">
                    <a:lumMod val="75000"/>
                  </a:schemeClr>
                </a:solidFill>
              </a:rPr>
              <a:t>Data Harvesting and Surveillance Capitalism 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158" y="1785926"/>
            <a:ext cx="7929618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How ? : </a:t>
            </a:r>
            <a:r>
              <a:rPr lang="en-IN" sz="2000" b="1" dirty="0" smtClean="0"/>
              <a:t>Al systems are taught using huge collection of information, most of which come from people - often without telling them clearly.</a:t>
            </a:r>
          </a:p>
          <a:p>
            <a:endParaRPr lang="en-IN" sz="2000" b="1" dirty="0" smtClean="0"/>
          </a:p>
          <a:p>
            <a:r>
              <a:rPr lang="en-IN" sz="2000" b="1" dirty="0" smtClean="0">
                <a:solidFill>
                  <a:srgbClr val="FF0000"/>
                </a:solidFill>
              </a:rPr>
              <a:t>Is it real? : </a:t>
            </a:r>
            <a:r>
              <a:rPr lang="en-IN" sz="2800" b="1" dirty="0" err="1" smtClean="0">
                <a:solidFill>
                  <a:schemeClr val="accent1">
                    <a:lumMod val="75000"/>
                  </a:schemeClr>
                </a:solidFill>
              </a:rPr>
              <a:t>Facebook,Google,Amazon,Instagram</a:t>
            </a:r>
            <a:endParaRPr lang="en-IN" sz="28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2000" b="1" dirty="0" smtClean="0"/>
              <a:t>And others collect a huge amount of information about what people do online , such as what they watch ,like , or search for</a:t>
            </a:r>
          </a:p>
          <a:p>
            <a:r>
              <a:rPr lang="en-IN" sz="2000" b="1" dirty="0" smtClean="0"/>
              <a:t>	</a:t>
            </a:r>
          </a:p>
          <a:p>
            <a:r>
              <a:rPr lang="en-IN" sz="2000" b="1" dirty="0" smtClean="0"/>
              <a:t> </a:t>
            </a:r>
            <a:r>
              <a:rPr lang="en-IN" sz="2000" b="1" dirty="0" smtClean="0">
                <a:solidFill>
                  <a:srgbClr val="FF0000"/>
                </a:solidFill>
              </a:rPr>
              <a:t>Why it's dark? : </a:t>
            </a:r>
            <a:r>
              <a:rPr lang="en-I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peoples private actions and feelings are used without their permissions and here this process is hidden.</a:t>
            </a:r>
          </a:p>
          <a:p>
            <a:endParaRPr lang="en-IN" sz="2000" b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80724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 smtClean="0">
                <a:solidFill>
                  <a:schemeClr val="tx2">
                    <a:lumMod val="75000"/>
                  </a:schemeClr>
                </a:solidFill>
              </a:rPr>
              <a:t>Manipulation through Algorithms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4282" y="928670"/>
            <a:ext cx="77153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How?:</a:t>
            </a:r>
            <a:r>
              <a:rPr lang="en-IN" sz="2000" b="1" dirty="0" smtClean="0"/>
              <a:t>	 Al predicts and shapes user behaviour via algorithms that keep them engaged for longer, often by showing things that make you feel strong emotion</a:t>
            </a:r>
          </a:p>
          <a:p>
            <a:endParaRPr lang="en-IN" sz="2000" b="1" dirty="0" smtClean="0"/>
          </a:p>
          <a:p>
            <a:r>
              <a:rPr lang="en-IN" sz="2000" b="1" dirty="0" smtClean="0">
                <a:solidFill>
                  <a:srgbClr val="FF0000"/>
                </a:solidFill>
              </a:rPr>
              <a:t>Is it real?: </a:t>
            </a:r>
            <a:r>
              <a:rPr lang="en-IN" sz="2000" b="1" dirty="0" smtClean="0"/>
              <a:t>You </a:t>
            </a:r>
            <a:r>
              <a:rPr lang="en-IN" sz="2000" b="1" dirty="0" err="1" smtClean="0"/>
              <a:t>Tube:shows</a:t>
            </a:r>
            <a:r>
              <a:rPr lang="en-IN" sz="2000" b="1" dirty="0" smtClean="0"/>
              <a:t> more and more videos to make people keep watching</a:t>
            </a:r>
          </a:p>
          <a:p>
            <a:r>
              <a:rPr lang="en-IN" sz="2000" b="1" dirty="0" smtClean="0"/>
              <a:t>	</a:t>
            </a:r>
            <a:r>
              <a:rPr lang="en-IN" sz="2000" b="1" dirty="0" err="1" smtClean="0"/>
              <a:t>Tik</a:t>
            </a:r>
            <a:r>
              <a:rPr lang="en-IN" sz="2000" b="1" dirty="0" smtClean="0"/>
              <a:t> </a:t>
            </a:r>
            <a:r>
              <a:rPr lang="en-IN" sz="2000" b="1" dirty="0" err="1" smtClean="0"/>
              <a:t>Tok</a:t>
            </a:r>
            <a:r>
              <a:rPr lang="en-IN" sz="2000" b="1" dirty="0" smtClean="0"/>
              <a:t>/</a:t>
            </a:r>
            <a:r>
              <a:rPr lang="en-IN" sz="2000" b="1" dirty="0" err="1" smtClean="0"/>
              <a:t>Instagram:while</a:t>
            </a:r>
            <a:r>
              <a:rPr lang="en-IN" sz="2000" b="1" dirty="0" smtClean="0"/>
              <a:t> seeing so post or shorts that make people compare </a:t>
            </a:r>
            <a:r>
              <a:rPr lang="en-IN" sz="2000" b="1" dirty="0" err="1" smtClean="0"/>
              <a:t>themself</a:t>
            </a:r>
            <a:r>
              <a:rPr lang="en-IN" sz="2000" b="1" dirty="0" smtClean="0"/>
              <a:t> ,especially young users(endless scrolling without realizing it)</a:t>
            </a:r>
            <a:endParaRPr lang="en-IN" sz="2000" b="1" dirty="0" smtClean="0">
              <a:highlight>
                <a:srgbClr val="FFFF00"/>
              </a:highlight>
            </a:endParaRPr>
          </a:p>
          <a:p>
            <a:endParaRPr lang="en-IN" sz="2000" b="1" dirty="0" smtClean="0"/>
          </a:p>
          <a:p>
            <a:r>
              <a:rPr lang="en-IN" sz="2000" b="1" dirty="0" smtClean="0">
                <a:solidFill>
                  <a:srgbClr val="FF0000"/>
                </a:solidFill>
              </a:rPr>
              <a:t>Why it's dark: </a:t>
            </a:r>
            <a:r>
              <a:rPr lang="en-IN" sz="2000" b="1" dirty="0" smtClean="0"/>
              <a:t>Our attention becomes fuel that power the AI system</a:t>
            </a:r>
            <a:endParaRPr lang="en-IN" sz="2000" b="1" dirty="0"/>
          </a:p>
        </p:txBody>
      </p:sp>
      <p:pic>
        <p:nvPicPr>
          <p:cNvPr id="5" name="Picture 4" descr="Screenshot 2025-10-26 1908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794" y="4572008"/>
            <a:ext cx="4239217" cy="200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571480"/>
            <a:ext cx="72866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 err="1" smtClean="0">
                <a:solidFill>
                  <a:schemeClr val="tx2">
                    <a:lumMod val="75000"/>
                  </a:schemeClr>
                </a:solidFill>
              </a:rPr>
              <a:t>Deepfakes</a:t>
            </a:r>
            <a:r>
              <a:rPr lang="en-IN" sz="4000" dirty="0" smtClean="0">
                <a:solidFill>
                  <a:schemeClr val="tx2">
                    <a:lumMod val="75000"/>
                  </a:schemeClr>
                </a:solidFill>
              </a:rPr>
              <a:t> and Loss of Truth</a:t>
            </a:r>
            <a:endParaRPr lang="en-US" sz="4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2844" y="1582340"/>
            <a:ext cx="80010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</a:rPr>
              <a:t>How?: </a:t>
            </a:r>
            <a:r>
              <a:rPr lang="en-IN" sz="2000" b="1" dirty="0" smtClean="0"/>
              <a:t>Al-generated fake videos, voices, or images </a:t>
            </a:r>
            <a:r>
              <a:rPr lang="en-IN" sz="2000" b="1" dirty="0" smtClean="0"/>
              <a:t>that </a:t>
            </a:r>
            <a:r>
              <a:rPr lang="en-IN" sz="2000" b="1" dirty="0" smtClean="0"/>
              <a:t>looks real and these are used to manipulate public perception</a:t>
            </a:r>
          </a:p>
          <a:p>
            <a:endParaRPr lang="en-IN" sz="2000" b="1" dirty="0">
              <a:solidFill>
                <a:srgbClr val="FF0000"/>
              </a:solidFill>
            </a:endParaRPr>
          </a:p>
          <a:p>
            <a:r>
              <a:rPr lang="en-IN" sz="2000" b="1" dirty="0" smtClean="0">
                <a:solidFill>
                  <a:srgbClr val="FF0000"/>
                </a:solidFill>
              </a:rPr>
              <a:t>Is it real?: </a:t>
            </a:r>
            <a:r>
              <a:rPr lang="en-I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fake videos have been used in politics and in online scams </a:t>
            </a:r>
          </a:p>
          <a:p>
            <a:r>
              <a:rPr lang="en-IN" sz="2000" b="1" dirty="0" smtClean="0">
                <a:solidFill>
                  <a:srgbClr val="FF0000"/>
                </a:solidFill>
              </a:rPr>
              <a:t>Why it's dark: </a:t>
            </a:r>
            <a:r>
              <a:rPr lang="en-I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It destroy </a:t>
            </a:r>
            <a:r>
              <a:rPr lang="en-IN" sz="20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trust,cofuses</a:t>
            </a:r>
            <a:r>
              <a:rPr lang="en-IN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people about what’s real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4414" y="214290"/>
            <a:ext cx="521497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chemeClr val="tx2">
                    <a:lumMod val="75000"/>
                  </a:schemeClr>
                </a:solidFill>
              </a:rPr>
              <a:t>Ethical </a:t>
            </a:r>
            <a:r>
              <a:rPr lang="en-US" sz="4400" dirty="0" smtClean="0">
                <a:solidFill>
                  <a:schemeClr val="tx2">
                    <a:lumMod val="75000"/>
                  </a:schemeClr>
                </a:solidFill>
              </a:rPr>
              <a:t>thoughts</a:t>
            </a:r>
          </a:p>
          <a:p>
            <a:r>
              <a:rPr lang="en-GB" sz="44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4400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lang="en-GB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(issues raised by use of AI)</a:t>
            </a:r>
            <a:endParaRPr lang="en-US" sz="4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sz="44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4400" dirty="0" smtClean="0">
                <a:solidFill>
                  <a:schemeClr val="tx2">
                    <a:lumMod val="75000"/>
                  </a:schemeClr>
                </a:solidFill>
              </a:rPr>
              <a:t>  </a:t>
            </a:r>
            <a:endParaRPr lang="en-US" sz="4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5720" y="1714488"/>
            <a:ext cx="707236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/>
              <a:t>1. Erosion of Autonomy (They decide for you)</a:t>
            </a:r>
          </a:p>
          <a:p>
            <a:r>
              <a:rPr lang="en-IN" sz="2000" b="1" dirty="0" smtClean="0"/>
              <a:t>Algorithms now plays a big part in </a:t>
            </a:r>
            <a:r>
              <a:rPr lang="en-IN" sz="2000" b="1" dirty="0" err="1" smtClean="0"/>
              <a:t>ourlives</a:t>
            </a:r>
            <a:r>
              <a:rPr lang="en-IN" sz="2000" b="1" dirty="0" smtClean="0"/>
              <a:t>, invisible ways:</a:t>
            </a:r>
          </a:p>
          <a:p>
            <a:r>
              <a:rPr lang="en-IN" sz="2000" b="1" dirty="0" smtClean="0"/>
              <a:t>What we see. </a:t>
            </a:r>
          </a:p>
          <a:p>
            <a:r>
              <a:rPr lang="en-IN" sz="2000" b="1" dirty="0" smtClean="0"/>
              <a:t>Who we meet.</a:t>
            </a:r>
          </a:p>
          <a:p>
            <a:r>
              <a:rPr lang="en-IN" sz="2000" b="1" dirty="0" smtClean="0"/>
              <a:t>What we buy.</a:t>
            </a:r>
          </a:p>
          <a:p>
            <a:endParaRPr lang="en-IN" sz="2000" b="1" dirty="0" smtClean="0"/>
          </a:p>
          <a:p>
            <a:endParaRPr lang="en-IN" sz="2000" b="1" dirty="0" smtClean="0">
              <a:solidFill>
                <a:srgbClr val="FF0000"/>
              </a:solidFill>
            </a:endParaRPr>
          </a:p>
          <a:p>
            <a:r>
              <a:rPr lang="en-IN" sz="2000" b="1" dirty="0" smtClean="0"/>
              <a:t>2. Surveillance as a New Form of Power (Eyes are always watching)</a:t>
            </a:r>
          </a:p>
          <a:p>
            <a:r>
              <a:rPr lang="en-IN" sz="2000" b="1" dirty="0" smtClean="0"/>
              <a:t>Al creates a digital </a:t>
            </a:r>
            <a:r>
              <a:rPr lang="en-IN" sz="2000" b="1" dirty="0" err="1" smtClean="0"/>
              <a:t>panopticon</a:t>
            </a:r>
            <a:r>
              <a:rPr lang="en-IN" sz="2000" b="1" dirty="0" smtClean="0"/>
              <a:t>(</a:t>
            </a:r>
            <a:r>
              <a:rPr lang="en-IN" sz="2000" b="1" dirty="0" err="1" smtClean="0"/>
              <a:t>CCTV,onlinetracking</a:t>
            </a:r>
            <a:r>
              <a:rPr lang="en-IN" sz="2000" b="1" dirty="0" smtClean="0"/>
              <a:t>):</a:t>
            </a:r>
          </a:p>
          <a:p>
            <a:r>
              <a:rPr lang="en-IN" sz="2000" b="1" dirty="0" smtClean="0"/>
              <a:t>Always watching.</a:t>
            </a:r>
          </a:p>
          <a:p>
            <a:r>
              <a:rPr lang="en-IN" sz="2000" b="1" dirty="0" smtClean="0"/>
              <a:t>Always predicting.</a:t>
            </a:r>
            <a:endParaRPr lang="en-IN" b="1" dirty="0"/>
          </a:p>
        </p:txBody>
      </p:sp>
      <p:pic>
        <p:nvPicPr>
          <p:cNvPr id="4" name="Picture 3" descr="Screenshot 2025-10-26 19180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00364" y="2500306"/>
            <a:ext cx="3000396" cy="1571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1604" y="785794"/>
            <a:ext cx="47981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solidFill>
                  <a:schemeClr val="tx2">
                    <a:lumMod val="75000"/>
                  </a:schemeClr>
                </a:solidFill>
              </a:rPr>
              <a:t>The conclusion</a:t>
            </a:r>
            <a:endParaRPr lang="en-US" sz="5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7158" y="2000240"/>
            <a:ext cx="721523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/>
              <a:t>While we often think we are using Al, the darker truth is that Al systems and the corporations behind them are using us:</a:t>
            </a:r>
          </a:p>
          <a:p>
            <a:r>
              <a:rPr lang="en-IN" sz="2000" b="1" dirty="0" smtClean="0">
                <a:solidFill>
                  <a:schemeClr val="tx2">
                    <a:lumMod val="75000"/>
                  </a:schemeClr>
                </a:solidFill>
              </a:rPr>
              <a:t>“Our data fuels their </a:t>
            </a:r>
            <a:r>
              <a:rPr lang="en-IN" sz="2000" b="1" dirty="0" err="1" smtClean="0">
                <a:solidFill>
                  <a:schemeClr val="tx2">
                    <a:lumMod val="75000"/>
                  </a:schemeClr>
                </a:solidFill>
              </a:rPr>
              <a:t>growth,our</a:t>
            </a:r>
            <a:r>
              <a:rPr lang="en-IN" sz="2000" b="1" dirty="0" smtClean="0">
                <a:solidFill>
                  <a:schemeClr val="tx2">
                    <a:lumMod val="75000"/>
                  </a:schemeClr>
                </a:solidFill>
              </a:rPr>
              <a:t> behaviour trains their </a:t>
            </a:r>
            <a:r>
              <a:rPr lang="en-IN" sz="2000" b="1" dirty="0" err="1" smtClean="0">
                <a:solidFill>
                  <a:schemeClr val="tx2">
                    <a:lumMod val="75000"/>
                  </a:schemeClr>
                </a:solidFill>
              </a:rPr>
              <a:t>system,our</a:t>
            </a:r>
            <a:r>
              <a:rPr lang="en-IN" sz="2000" b="1" dirty="0" smtClean="0">
                <a:solidFill>
                  <a:schemeClr val="tx2">
                    <a:lumMod val="75000"/>
                  </a:schemeClr>
                </a:solidFill>
              </a:rPr>
              <a:t> attention feeds their profit”</a:t>
            </a:r>
          </a:p>
          <a:p>
            <a:r>
              <a:rPr lang="en-IN" sz="2000" b="1" dirty="0" smtClean="0"/>
              <a:t>Unless governed by strong ethical principles, public oversight, and human-</a:t>
            </a:r>
            <a:r>
              <a:rPr lang="en-IN" sz="2000" b="1" dirty="0" err="1" smtClean="0"/>
              <a:t>centered</a:t>
            </a:r>
            <a:r>
              <a:rPr lang="en-IN" sz="2000" b="1" dirty="0" smtClean="0"/>
              <a:t> design, Al will continue to use humanity to serve non-human goals - economic, algorithmic, or otherwise.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290"/>
            <a:ext cx="7242048" cy="3466150"/>
          </a:xfrm>
        </p:spPr>
        <p:txBody>
          <a:bodyPr>
            <a:normAutofit/>
          </a:bodyPr>
          <a:lstStyle/>
          <a:p>
            <a:r>
              <a:rPr lang="en-GB" sz="6600" dirty="0" smtClean="0"/>
              <a:t> </a:t>
            </a:r>
            <a:r>
              <a:rPr lang="en-GB" sz="6600" dirty="0" smtClean="0"/>
              <a:t>         </a:t>
            </a:r>
            <a:r>
              <a:rPr lang="en-GB" sz="6600" dirty="0" smtClean="0">
                <a:solidFill>
                  <a:schemeClr val="tx2">
                    <a:lumMod val="75000"/>
                  </a:schemeClr>
                </a:solidFill>
              </a:rPr>
              <a:t>thank you</a:t>
            </a:r>
            <a:endParaRPr lang="en-US" sz="6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455</TotalTime>
  <Words>242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Opulent</vt:lpstr>
      <vt:lpstr>Sanajaya p csd-b title:how ai uses human </vt:lpstr>
      <vt:lpstr>Slide 2</vt:lpstr>
      <vt:lpstr>Slide 3</vt:lpstr>
      <vt:lpstr>Slide 4</vt:lpstr>
      <vt:lpstr>Slide 5</vt:lpstr>
      <vt:lpstr>Slide 6</vt:lpstr>
      <vt:lpstr>Slide 7</vt:lpstr>
      <vt:lpstr>          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divya divya</dc:creator>
  <cp:lastModifiedBy>divya divya</cp:lastModifiedBy>
  <cp:revision>36</cp:revision>
  <dcterms:created xsi:type="dcterms:W3CDTF">2025-10-24T14:01:12Z</dcterms:created>
  <dcterms:modified xsi:type="dcterms:W3CDTF">2025-10-30T16:45:55Z</dcterms:modified>
</cp:coreProperties>
</file>